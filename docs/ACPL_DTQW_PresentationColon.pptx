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3.svg" ContentType="image/svg"/>
  <Override PartName="/ppt/media/image22.png" ContentType="image/png"/>
  <Override PartName="/ppt/media/image9.gif" ContentType="image/gif"/>
  <Override PartName="/ppt/media/image1.jpeg" ContentType="image/jpeg"/>
  <Override PartName="/ppt/media/image14.png" ContentType="image/png"/>
  <Override PartName="/ppt/media/image4.png" ContentType="image/png"/>
  <Override PartName="/ppt/media/image7.svg" ContentType="image/svg"/>
  <Override PartName="/ppt/media/image2.png" ContentType="image/png"/>
  <Override PartName="/ppt/media/image6.png" ContentType="image/png"/>
  <Override PartName="/ppt/media/image10.png" ContentType="image/png"/>
  <Override PartName="/ppt/media/image12.png" ContentType="image/png"/>
  <Override PartName="/ppt/media/image5.svg" ContentType="image/svg"/>
  <Override PartName="/ppt/media/image18.png" ContentType="image/png"/>
  <Override PartName="/ppt/media/image8.gif" ContentType="image/gif"/>
  <Override PartName="/ppt/media/image11.png" ContentType="image/png"/>
  <Override PartName="/ppt/media/image13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rgbClr val="4f46e5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111827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Baseline</c:v>
                </c:pt>
                <c:pt idx="1">
                  <c:v>Best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0.984375</c:v>
                </c:pt>
                <c:pt idx="1">
                  <c:v>0.532670378684998</c:v>
                </c:pt>
              </c:numCache>
            </c:numRef>
          </c:val>
        </c:ser>
        <c:gapWidth val="150"/>
        <c:overlap val="0"/>
        <c:axId val="12705812"/>
        <c:axId val="3174395"/>
      </c:barChart>
      <c:catAx>
        <c:axId val="127058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3174395"/>
        <c:crosses val="autoZero"/>
        <c:auto val="1"/>
        <c:lblAlgn val="ctr"/>
        <c:lblOffset val="100"/>
        <c:noMultiLvlLbl val="0"/>
      </c:catAx>
      <c:valAx>
        <c:axId val="3174395"/>
        <c:scaling>
          <c:orientation val="minMax"/>
          <c:max val="1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127058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90C57B-1F5B-4AF9-BE76-045E1E56F07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Project artifacts provided by user.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95B0B5-6AF3-4AB2-A2E9-A98ACD4E01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11A86C-2D76-468E-9C2D-E93F3D5DA2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631BAB-6AC2-4376-B34A-F3CA34F40A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Project artifacts provided by user (GNNACLDTQW.pdf; code: metrics.py).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033994-7ABA-4875-809C-72FEA7BF1C3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123E1B-E41A-4CE4-A52A-02B4FB83F5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1976B2-C0E6-41E0-B79D-2B33471586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43DC7C-E70E-497C-9827-640CE9679B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7AD236-8C33-4227-B183-789EE702661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6753BE-AB54-452F-BC28-91BDAA48D2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Project artifacts provided by user (reports, eval_ci_seed.json).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66DC5F-FC2B-494E-9865-36BB2DFAE1D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Project artifacts provided by user (YAML manifests and reports).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879C23-264D-43B9-AF17-645C3DD9F7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Computed from user-provided evaluation summaries in EvalRunsTraining.zip.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EEBDC8-3FF2-4D5B-AD31-69BA25389AE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Figures from user-provided evaluation artifacts (EvalRunsTraining.zip).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41DEFF-704D-44A8-B40B-60749E2723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E548F2-F309-468D-B600-15E33F8D6C1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Figure and metrics from user-provided evaluation artifacts (EvalRunsTraining.zip).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430D14-6B20-4753-AF5C-BFE7A99A4BF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4E24CF-F855-4A9E-98FB-45FDE914CA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9E6977-748B-4259-B5B1-783545ADED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Project artifacts provided by user (code, manifests, EvalRunsTraining.zip).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91C403-F8CB-4479-AA3E-73371E3B63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6210000"/>
            <a:ext cx="11154600" cy="44640"/>
          </a:xfrm>
          <a:custGeom>
            <a:avLst/>
            <a:gdLst>
              <a:gd name="textAreaLeft" fmla="*/ 0 w 11154600"/>
              <a:gd name="textAreaRight" fmla="*/ 11155680 w 11154600"/>
              <a:gd name="textAreaTop" fmla="*/ 0 h 44640"/>
              <a:gd name="textAreaBottom" fmla="*/ 45720 h 44640"/>
              <a:gd name="GluePoint1X" fmla="*/ 0 w 8715708"/>
              <a:gd name="GluePoint1Y" fmla="*/ 0 h 45719"/>
              <a:gd name="GluePoint2X" fmla="*/ 3694525 w 8715708"/>
              <a:gd name="GluePoint2Y" fmla="*/ 0 h 45719"/>
              <a:gd name="GluePoint3X" fmla="*/ 5021183 w 8715708"/>
              <a:gd name="GluePoint3Y" fmla="*/ 0 h 45719"/>
              <a:gd name="GluePoint4X" fmla="*/ 8715708 w 8715708"/>
              <a:gd name="GluePoint4Y" fmla="*/ 0 h 45719"/>
              <a:gd name="GluePoint5X" fmla="*/ 8715708 w 8715708"/>
              <a:gd name="GluePoint5Y" fmla="*/ 45719 h 45719"/>
              <a:gd name="GluePoint6X" fmla="*/ 5021183 w 8715708"/>
              <a:gd name="GluePoint6Y" fmla="*/ 45719 h 45719"/>
              <a:gd name="GluePoint7X" fmla="*/ 3694525 w 8715708"/>
              <a:gd name="GluePoint7Y" fmla="*/ 45719 h 45719"/>
              <a:gd name="GluePoint8X" fmla="*/ 0 w 8715708"/>
              <a:gd name="GluePoint8Y" fmla="*/ 45719 h 457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4600" cy="34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C553A1D-37DE-45DE-A1AF-17714806B49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6210000"/>
            <a:ext cx="11154600" cy="44640"/>
          </a:xfrm>
          <a:custGeom>
            <a:avLst/>
            <a:gdLst>
              <a:gd name="textAreaLeft" fmla="*/ 0 w 11154600"/>
              <a:gd name="textAreaRight" fmla="*/ 11155680 w 11154600"/>
              <a:gd name="textAreaTop" fmla="*/ 0 h 44640"/>
              <a:gd name="textAreaBottom" fmla="*/ 45720 h 44640"/>
              <a:gd name="GluePoint1X" fmla="*/ 0 w 8715708"/>
              <a:gd name="GluePoint1Y" fmla="*/ 0 h 45719"/>
              <a:gd name="GluePoint2X" fmla="*/ 3694525 w 8715708"/>
              <a:gd name="GluePoint2Y" fmla="*/ 0 h 45719"/>
              <a:gd name="GluePoint3X" fmla="*/ 5021183 w 8715708"/>
              <a:gd name="GluePoint3Y" fmla="*/ 0 h 45719"/>
              <a:gd name="GluePoint4X" fmla="*/ 8715708 w 8715708"/>
              <a:gd name="GluePoint4Y" fmla="*/ 0 h 45719"/>
              <a:gd name="GluePoint5X" fmla="*/ 8715708 w 8715708"/>
              <a:gd name="GluePoint5Y" fmla="*/ 45719 h 45719"/>
              <a:gd name="GluePoint6X" fmla="*/ 5021183 w 8715708"/>
              <a:gd name="GluePoint6Y" fmla="*/ 45719 h 45719"/>
              <a:gd name="GluePoint7X" fmla="*/ 3694525 w 8715708"/>
              <a:gd name="GluePoint7Y" fmla="*/ 45719 h 45719"/>
              <a:gd name="GluePoint8X" fmla="*/ 0 w 8715708"/>
              <a:gd name="GluePoint8Y" fmla="*/ 45719 h 457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21280" y="978480"/>
            <a:ext cx="11154600" cy="342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&lt;date/time&gt;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659D1D5-6134-4B68-B619-E9DABC055A1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gif"/><Relationship Id="rId6" Type="http://schemas.openxmlformats.org/officeDocument/2006/relationships/image" Target="../media/image9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chart" Target="../charts/chart1.xml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"/>
          <p:cNvPicPr/>
          <p:nvPr/>
        </p:nvPicPr>
        <p:blipFill>
          <a:blip r:embed="rId1">
            <a:alphaModFix amt="40000"/>
          </a:blip>
          <a:srcRect l="0" t="0" r="-2" b="14791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200" cy="244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Adaptive Coin Policy Learning (ACPL)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 Discrete-Time Quantum Walks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6652440" y="4017960"/>
            <a:ext cx="5039640" cy="182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SUNY Polytechnic Institute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Computer Science Department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Angel Daniel Colon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1524960" y="3422520"/>
            <a:ext cx="10514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Graph neural policies for node- and time-dependent quantum walk coins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bfd3ff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9" name="Text 3"/>
          <p:cNvSpPr/>
          <p:nvPr/>
        </p:nvSpPr>
        <p:spPr>
          <a:xfrm>
            <a:off x="914400" y="1097280"/>
            <a:ext cx="1033128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Problem + motivation: why learn coins instead of fixed baselines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Related work (quantum walks + ML)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Real contribution &amp; originality (what we changed vs. prior art)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Minimum DTQW background: state, coin, shift, step operator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What we predict: node × time coin parameters → unitary coins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Dataset generation + splitting (IID vs OOD)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Baselines, model(s): why multiple GNNs, training + evaluation protocol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Experiments, ablations, robustness sweeps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Headline results + per-task highlights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70000"/>
              <a:buFont typeface="Symbol" charset="2"/>
              <a:buChar char="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Limitations &amp; future work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6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6"/>
          <p:cNvSpPr/>
          <p:nvPr/>
        </p:nvSpPr>
        <p:spPr>
          <a:xfrm>
            <a:off x="822960" y="86868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Goal: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7"/>
          <p:cNvSpPr/>
          <p:nvPr/>
        </p:nvSpPr>
        <p:spPr>
          <a:xfrm>
            <a:off x="1097280" y="1325880"/>
            <a:ext cx="1097136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Learn a policy that chooses coin operators adaptively to improve DTQW task performance.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Policy is graph- and time-dependent: coin parameters θᵥ,ₜ for each node v and step 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Optimize end-to-end through the DTQW simulator with task-specific objectives.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489600" y="2853720"/>
            <a:ext cx="10971360" cy="1095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2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3920" y="3036600"/>
            <a:ext cx="10422720" cy="68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68"/>
          <p:cNvSpPr/>
          <p:nvPr/>
        </p:nvSpPr>
        <p:spPr>
          <a:xfrm>
            <a:off x="737280" y="425376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Primary tasks evaluated: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9"/>
          <p:cNvSpPr/>
          <p:nvPr/>
        </p:nvSpPr>
        <p:spPr>
          <a:xfrm>
            <a:off x="1011600" y="4619520"/>
            <a:ext cx="1097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 (reach uniform distribution fast)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Marked-node search (concentrate probability on Ω)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State transfer (maximize P(target))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10000"/>
              </a:lnSpc>
              <a:buClr>
                <a:srgbClr val="111827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 transport under disorder (edge phase / coin dephasing)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0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20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Motivation &amp; thesis contributions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2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Why learn coins?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3"/>
          <p:cNvSpPr/>
          <p:nvPr/>
        </p:nvSpPr>
        <p:spPr>
          <a:xfrm>
            <a:off x="1097280" y="1234440"/>
            <a:ext cx="1097136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Hand-designed coins (Hadamard/Grover) are not task-adaptive and often fail to generalize.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Graph-dependent structure matters (degree, geometry, irregularities, marked roles).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Robustness to disorder is central for defendable quantum-walk claims.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74"/>
          <p:cNvSpPr/>
          <p:nvPr/>
        </p:nvSpPr>
        <p:spPr>
          <a:xfrm>
            <a:off x="822960" y="288036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What this project delivers: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5"/>
          <p:cNvSpPr/>
          <p:nvPr/>
        </p:nvSpPr>
        <p:spPr>
          <a:xfrm>
            <a:off x="1097280" y="3246120"/>
            <a:ext cx="109713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ACPL: GNN-based adaptive coin policy for any-degree DTQW (Cayley/exp lifts).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Manifest-driven procedural dataset with leak-free IID/OOD splits (reproducible episodes).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 suite (NoPE, GlobalCoin, TimeFrozen, NodePermute) to isolate causal components.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Robustness sweeps over disorder σ with standardized reporting artifacts (tables + figs).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6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2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Microsoft YaHei"/>
              </a:rPr>
              <a:t>Related works (ML + Quantum Walks)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3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Quantum walks &amp; algorithms: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55"/>
          <p:cNvSpPr/>
          <p:nvPr/>
        </p:nvSpPr>
        <p:spPr>
          <a:xfrm>
            <a:off x="1097280" y="1234440"/>
            <a:ext cx="1097136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Coined DTQW formalism &amp; surveys: Aharonov et al.; Kempe; Portugal.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Quantum-walk search: SKW (hypercube) and AKR (2D grid).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Coins as a key control knob: "Coins Make Quantum Walks Faster" (Ambainis et al.).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7"/>
          <p:cNvSpPr/>
          <p:nvPr/>
        </p:nvSpPr>
        <p:spPr>
          <a:xfrm>
            <a:off x="822960" y="27889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Machine learning for quantum control / quantum walks: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9"/>
          <p:cNvSpPr/>
          <p:nvPr/>
        </p:nvSpPr>
        <p:spPr>
          <a:xfrm>
            <a:off x="1097280" y="3154680"/>
            <a:ext cx="1097136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Learned quantum-walk controllers and QWNN-style models.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End-to-end optimization of unitary parameters via differentiable simulation or RL.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thesis: GNN policy outputs per-node, per-time unitary coins for algorithmic objectives.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This work: graph-conditioned </a:t>
            </a:r>
            <a:r>
              <a:rPr b="0" i="1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node×time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coin policy (unitary-by-construction) + symmetry/ablation evidence beyond fixed coins.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2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0"/>
          <p:cNvSpPr/>
          <p:nvPr/>
        </p:nvSpPr>
        <p:spPr>
          <a:xfrm>
            <a:off x="822960" y="4695840"/>
            <a:ext cx="4205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Graph ML foundations (GNN encoder):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1"/>
          <p:cNvSpPr/>
          <p:nvPr/>
        </p:nvSpPr>
        <p:spPr>
          <a:xfrm>
            <a:off x="1098720" y="5017320"/>
            <a:ext cx="5713920" cy="11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Permutation-equivariant message passing: relabel-in → relabel-out.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Backbones used: GCN, GraphSAGE, GAT, GIN, PNA.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Optional positional encodings: LapPE (irregular) or coordinates (grids).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20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What is the real contribution here?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2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Core contribution (what’s new):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3"/>
          <p:cNvSpPr/>
          <p:nvPr/>
        </p:nvSpPr>
        <p:spPr>
          <a:xfrm>
            <a:off x="1097280" y="1234440"/>
            <a:ext cx="10971360" cy="14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We recast coin selection as graph-conditioned policy learning for coined DTQWs.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Policy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π_ω = (GNN encoder) ∘ (temporal controller) ∘ (coin head) → {θ_{v,t}}.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Physics-safe coin map Φ(θ)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SU(2) (d=2) and exp/Cayley lifts (d&gt;2) to guarantee unitarity.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Trained end-to-end through the DTQW simulator (BPTT), validated via ablations (GlobalCoin/TimeFrozen/PermuteNodes).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4"/>
          <p:cNvSpPr/>
          <p:nvPr/>
        </p:nvSpPr>
        <p:spPr>
          <a:xfrm>
            <a:off x="822960" y="288036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Is this idea totally yours? What was changed vs. prior art?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5"/>
          <p:cNvSpPr/>
          <p:nvPr/>
        </p:nvSpPr>
        <p:spPr>
          <a:xfrm>
            <a:off x="1097280" y="3246120"/>
            <a:ext cx="10971360" cy="31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Core contribution: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 learnable, </a:t>
            </a:r>
            <a:r>
              <a:rPr b="0" i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unitary-by-construction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adaptive coin policy π_ω(G,X,t) that outputs node- and time-dependent coins C_v(t).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Theorems / guarantees used in the development: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Theorem 1 (Permutation-equivariance of message passing)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with sum aggregation + shared weights, relabeling nodes permutes embeddings and any per-node policy outputs in lockstep.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Proposition 1 (Nodewise composition preserves equivariance)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composing ΦGNN with a shared nodewise controller+head preserves equivariance; local coin lift implies block-diagonal conjugation C′t = R Ct R†.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Equivariance of the</a:t>
            </a:r>
            <a:r>
              <a:rPr b="0" i="1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 full DTQW step</a:t>
            </a:r>
            <a:r>
              <a:rPr b="0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 under relabeling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the flip-flop shift S is a permutation unitary, so S′ = R S R† and U′t = R Ut R† (the physics is label-invariant).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Position-marginal principle (partial trace)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objectives depend only on PT(v)=∑a|ψT(v,a)|² = diag(TrC(|ψT⟩⟨ψT|)), making evaluation gauge-invariant to coin-space rephasings.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Originality (what’s mine vs what’s standard)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: DTQW formalism + GNN backbones are prior art; my contribution is the </a:t>
            </a:r>
            <a:r>
              <a:rPr b="0" i="1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integration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into ACPL: node×time adaptive coins, unitary lifts (SU(2)/exp/Cayley), and a reproducible eval/ablation protocol that stress-tests generalization + robustness.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6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Background: discrete-time quantum walk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183240" y="1005840"/>
            <a:ext cx="5759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State space: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183240" y="1389960"/>
            <a:ext cx="5759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Hilbert space  =  position ⊗ coin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228600" y="1874520"/>
            <a:ext cx="5759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One step: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228600" y="2212920"/>
            <a:ext cx="57592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b1220"/>
                </a:solidFill>
                <a:effectLst/>
                <a:uFillTx/>
                <a:latin typeface="Calibri"/>
              </a:rPr>
              <a:t>ψ_{t+1}  =  S · C(t) · ψ_t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228600" y="2606040"/>
            <a:ext cx="5759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4155"/>
                </a:solidFill>
                <a:effectLst/>
                <a:uFillTx/>
                <a:latin typeface="Calibri"/>
              </a:rPr>
              <a:t>C(t): (block-diagonal) coin operator;  S: shift/permutation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228600" y="3062880"/>
            <a:ext cx="41137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Measurement-derived probability distribution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228600" y="3429360"/>
            <a:ext cx="5485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b1220"/>
                </a:solidFill>
                <a:effectLst/>
                <a:uFillTx/>
                <a:latin typeface="Calibri"/>
              </a:rPr>
              <a:t>P_t(v)  =  sum_c |ψ_t(v,c)|^2   (position marginal)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228600" y="3886200"/>
            <a:ext cx="5485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Search: maximize probability mass on marked set Ω at final step 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Mixing: minimize TV(P_t, Uniform) after sufficient steps.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Transfer/robust: deliver mass from a start node to a target set (possibly under disorder).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7"/>
          <p:cNvSpPr/>
          <p:nvPr/>
        </p:nvSpPr>
        <p:spPr>
          <a:xfrm>
            <a:off x="5943600" y="822600"/>
            <a:ext cx="4799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DTQW step structure (position ⊗ coin):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3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rot="21582600">
            <a:off x="5999040" y="1583280"/>
            <a:ext cx="4328640" cy="41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 4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94720" y="2512080"/>
            <a:ext cx="542916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78"/>
          <p:cNvSpPr/>
          <p:nvPr/>
        </p:nvSpPr>
        <p:spPr>
          <a:xfrm>
            <a:off x="250560" y="4862880"/>
            <a:ext cx="1370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Key idea: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9"/>
          <p:cNvSpPr/>
          <p:nvPr/>
        </p:nvSpPr>
        <p:spPr>
          <a:xfrm>
            <a:off x="252000" y="5191200"/>
            <a:ext cx="54907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Coin dimension equals node degree (d=2 line, d=4 grid, d=k regular).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 time-varying, node-local coin can shape interference patterns for different tasks.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ACPL learns these coins from data rather than hand-designing them.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1" descr="A Simple Look at Simple Random Walks | by Laurel W | The Quantastic Journal  | Medium"/>
          <p:cNvPicPr/>
          <p:nvPr/>
        </p:nvPicPr>
        <p:blipFill>
          <a:blip r:embed="rId5"/>
          <a:stretch/>
        </p:blipFill>
        <p:spPr>
          <a:xfrm>
            <a:off x="5948640" y="3426120"/>
            <a:ext cx="5976360" cy="279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3" descr="manipulate - Generate random walk on a graph - Mathematica Stack Exchange"/>
          <p:cNvPicPr/>
          <p:nvPr/>
        </p:nvPicPr>
        <p:blipFill>
          <a:blip r:embed="rId6"/>
          <a:stretch/>
        </p:blipFill>
        <p:spPr>
          <a:xfrm>
            <a:off x="3497040" y="925200"/>
            <a:ext cx="1684800" cy="129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2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Baselines and what they 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3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Fixed-coin baselines (algorithmic):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5"/>
          <p:cNvSpPr/>
          <p:nvPr/>
        </p:nvSpPr>
        <p:spPr>
          <a:xfrm>
            <a:off x="1097280" y="1234440"/>
            <a:ext cx="1097136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Hadamard (d=2) and Hadamard-like lifts for higher degree (used as baseline_kind=hadamard).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Grover-style diffusion coins are relevant for marked-node search intuition.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These are task-agnostic and cannot adapt per node or per time step.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7"/>
          <p:cNvSpPr/>
          <p:nvPr/>
        </p:nvSpPr>
        <p:spPr>
          <a:xfrm>
            <a:off x="822960" y="27889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Policy / architecture baselines (controls):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9"/>
          <p:cNvSpPr/>
          <p:nvPr/>
        </p:nvSpPr>
        <p:spPr>
          <a:xfrm>
            <a:off x="1097280" y="3154680"/>
            <a:ext cx="1097136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GlobalCoin: one θ(t) shared across all nodes (removes spatial adaptivity).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TimeFrozen: one θ(v) shared across all times (removes temporal adaptivity).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NoPE: removes positional encodings (tests reliance on geometry/roles).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NodePermute: permutes node indices to test permutation consistency.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2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0"/>
          <p:cNvSpPr/>
          <p:nvPr/>
        </p:nvSpPr>
        <p:spPr>
          <a:xfrm>
            <a:off x="822960" y="4695840"/>
            <a:ext cx="2604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Disorder / robustness: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1"/>
          <p:cNvSpPr/>
          <p:nvPr/>
        </p:nvSpPr>
        <p:spPr>
          <a:xfrm>
            <a:off x="1098720" y="5017320"/>
            <a:ext cx="5713920" cy="11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Edge-phase disorder: random phases on edges during shift.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Coin dephasing: decoherence applied to coin subspace.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We sweep disorder strength σ and report mean + risk (CVaR) metrics.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6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3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are we predicting? (inputs → outputs)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4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Inputs per episode: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5"/>
          <p:cNvSpPr/>
          <p:nvPr/>
        </p:nvSpPr>
        <p:spPr>
          <a:xfrm>
            <a:off x="1097280" y="1234440"/>
            <a:ext cx="109713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Graph G=(V,E): edge_index + port map (for directed arcs).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Node features X: degree, Laplacian positional encodings, (coords for grids).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Task spec (source/target/marked-set flags) and normalized time τ=t/T.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6"/>
          <p:cNvSpPr/>
          <p:nvPr/>
        </p:nvSpPr>
        <p:spPr>
          <a:xfrm>
            <a:off x="822960" y="27889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Model output: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7"/>
          <p:cNvSpPr/>
          <p:nvPr/>
        </p:nvSpPr>
        <p:spPr>
          <a:xfrm>
            <a:off x="1097280" y="3154680"/>
            <a:ext cx="1097136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Coin parameters θᵥ,ₜ for each node v and time step 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Mapped to unitary local coins Cᵥ(t)=Φ(θᵥ,ₜ) (Cayley/exp for degree&gt;2).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Simulator produces position distribution Pₜ; loss is task-specific on P_T.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8"/>
          <p:cNvSpPr/>
          <p:nvPr/>
        </p:nvSpPr>
        <p:spPr>
          <a:xfrm>
            <a:off x="822960" y="480060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Prediction level: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9"/>
          <p:cNvSpPr/>
          <p:nvPr/>
        </p:nvSpPr>
        <p:spPr>
          <a:xfrm>
            <a:off x="1097280" y="5166360"/>
            <a:ext cx="1097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We do not predict class labels; we predict control actions (coins) that induce desired distributions.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Metrics are computed from distributions (TV to uniform, P(target), max probability on Ω, CVaR risk).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0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10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9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Dataset: procedural episodes + manifest provenance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2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Key idea: the “dataset” is an episode generator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3"/>
          <p:cNvSpPr/>
          <p:nvPr/>
        </p:nvSpPr>
        <p:spPr>
          <a:xfrm>
            <a:off x="1097280" y="1234440"/>
            <a:ext cx="109713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Episodes are generated on-the-fly but deterministically from a manifest + 64-bit seeds.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Manifests fix: graph family/sizes, tasks, horizons, noise/disorder, PE settings, split seeds.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This enables reproducible and audit-friendly training/evaluation.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640080" y="2423160"/>
            <a:ext cx="10879920" cy="3930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25560" dir="2700000" dist="12218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6" descr="/mnt/data/acpl_dataset.png"/>
          <p:cNvPicPr/>
          <p:nvPr/>
        </p:nvPicPr>
        <p:blipFill>
          <a:blip r:embed="rId1"/>
          <a:stretch/>
        </p:blipFill>
        <p:spPr>
          <a:xfrm>
            <a:off x="822960" y="3647160"/>
            <a:ext cx="10514160" cy="148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94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4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5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Splits &amp; data snapshot (search-grid example)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6"/>
          <p:cNvSpPr/>
          <p:nvPr/>
        </p:nvSpPr>
        <p:spPr>
          <a:xfrm>
            <a:off x="228600" y="868680"/>
            <a:ext cx="4113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Frozen split protocol (size-based):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7"/>
          <p:cNvSpPr/>
          <p:nvPr/>
        </p:nvSpPr>
        <p:spPr>
          <a:xfrm>
            <a:off x="228600" y="1143000"/>
            <a:ext cx="411372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Train sizes: {32, 48, 64, 80} grids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Validation sizes: {40, 72} (select horizon T)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Test (IID): {48, 64} • Test (OOD): {96}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Per-horizon evaluation manifests: T ∈ {96,128,160,192}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8"/>
          <p:cNvSpPr/>
          <p:nvPr/>
        </p:nvSpPr>
        <p:spPr>
          <a:xfrm>
            <a:off x="6400800" y="868680"/>
            <a:ext cx="5484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Manifest-driven provenance: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6400800" y="1234440"/>
            <a:ext cx="5439240" cy="2055960"/>
          </a:xfrm>
          <a:prstGeom prst="roundRect">
            <a:avLst>
              <a:gd name="adj" fmla="val 16667"/>
            </a:avLst>
          </a:prstGeom>
          <a:solidFill>
            <a:srgbClr val="0b1020"/>
          </a:solidFill>
          <a:ln w="12700">
            <a:solidFill>
              <a:srgbClr val="1118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9"/>
          <p:cNvSpPr/>
          <p:nvPr/>
        </p:nvSpPr>
        <p:spPr>
          <a:xfrm>
            <a:off x="6583680" y="1371600"/>
            <a:ext cx="5073480" cy="17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data: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  family: grid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  train_sizes: [32,48,64,80]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  val_sizes:   [40,72]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  test_ood:    [96]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sim: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  candidates: [96,128,160,192]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5e7eb"/>
                </a:solidFill>
                <a:effectLst/>
                <a:uFillTx/>
                <a:latin typeface="Consolas"/>
                <a:ea typeface="Consolas"/>
              </a:rPr>
              <a:t>model.gnn.kind: pna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0"/>
          <p:cNvSpPr/>
          <p:nvPr/>
        </p:nvSpPr>
        <p:spPr>
          <a:xfrm>
            <a:off x="137160" y="2743200"/>
            <a:ext cx="1919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Data snapshot: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1"/>
          <p:cNvSpPr/>
          <p:nvPr/>
        </p:nvSpPr>
        <p:spPr>
          <a:xfrm>
            <a:off x="137160" y="3062880"/>
            <a:ext cx="621684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Node attributes: degree, LapPE(k=16), and (for grids) normalized coordinates.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Task flags: marked node Ω, source/target roles (one-hot per node).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Episode = (G, X, T, ψ₀, task, noise) → simulator → metrics.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2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87" descr=""/>
          <p:cNvPicPr/>
          <p:nvPr/>
        </p:nvPicPr>
        <p:blipFill>
          <a:blip r:embed="rId1"/>
          <a:stretch/>
        </p:blipFill>
        <p:spPr>
          <a:xfrm>
            <a:off x="6448320" y="3845880"/>
            <a:ext cx="4393440" cy="139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03"/>
          <p:cNvSpPr/>
          <p:nvPr/>
        </p:nvSpPr>
        <p:spPr>
          <a:xfrm>
            <a:off x="6404400" y="3418560"/>
            <a:ext cx="2435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Example: search-grid.yaml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04"/>
          <p:cNvSpPr/>
          <p:nvPr/>
        </p:nvSpPr>
        <p:spPr>
          <a:xfrm>
            <a:off x="6387480" y="5420160"/>
            <a:ext cx="406980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IID tests: seen graph family/sizes.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OOD tests: larger size (generalization).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All episodes reproducible via manifest + seed schedule.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5"/>
          <p:cNvSpPr/>
          <p:nvPr/>
        </p:nvSpPr>
        <p:spPr>
          <a:xfrm>
            <a:off x="6858360" y="1188720"/>
            <a:ext cx="1646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Why this matters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6"/>
          <p:cNvSpPr/>
          <p:nvPr/>
        </p:nvSpPr>
        <p:spPr>
          <a:xfrm>
            <a:off x="181440" y="4418280"/>
            <a:ext cx="1646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Why this matters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7"/>
          <p:cNvSpPr/>
          <p:nvPr/>
        </p:nvSpPr>
        <p:spPr>
          <a:xfrm>
            <a:off x="209880" y="4924440"/>
            <a:ext cx="4570560" cy="10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We separate interpolation (IID) from extrapolation (OOD).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Report multi-seed confidence intervals for robustness.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Ablations run on the same split protocol to isolate model components.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24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7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 multiple GNN models?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0" y="1143000"/>
            <a:ext cx="5576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Different graph families benefit from different inductive biases: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8"/>
          <p:cNvSpPr/>
          <p:nvPr/>
        </p:nvSpPr>
        <p:spPr>
          <a:xfrm>
            <a:off x="182880" y="1462680"/>
            <a:ext cx="5531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GCN: stable default for homophilous / regular structures (grid, line, regular).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PNA: degree-aware aggregation; robust when local roles differ or degree stats vary.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GAT/GIN: alternatives for heterophily or when expressivity is needed for structure.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9"/>
          <p:cNvSpPr/>
          <p:nvPr/>
        </p:nvSpPr>
        <p:spPr>
          <a:xfrm>
            <a:off x="0" y="3657600"/>
            <a:ext cx="31993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Used in this study (as configured):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685800" y="4069080"/>
            <a:ext cx="8319960" cy="3002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0"/>
          <p:cNvSpPr/>
          <p:nvPr/>
        </p:nvSpPr>
        <p:spPr>
          <a:xfrm>
            <a:off x="826920" y="4122720"/>
            <a:ext cx="2325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11"/>
          <p:cNvSpPr/>
          <p:nvPr/>
        </p:nvSpPr>
        <p:spPr>
          <a:xfrm>
            <a:off x="3365640" y="4122720"/>
            <a:ext cx="2748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Graph family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12"/>
          <p:cNvSpPr/>
          <p:nvPr/>
        </p:nvSpPr>
        <p:spPr>
          <a:xfrm>
            <a:off x="6327360" y="4122720"/>
            <a:ext cx="26078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GNN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8"/>
          <p:cNvSpPr/>
          <p:nvPr/>
        </p:nvSpPr>
        <p:spPr>
          <a:xfrm>
            <a:off x="685800" y="4370400"/>
            <a:ext cx="8319960" cy="29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3"/>
          <p:cNvSpPr/>
          <p:nvPr/>
        </p:nvSpPr>
        <p:spPr>
          <a:xfrm>
            <a:off x="826920" y="4437360"/>
            <a:ext cx="2325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mixing-grid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4"/>
          <p:cNvSpPr/>
          <p:nvPr/>
        </p:nvSpPr>
        <p:spPr>
          <a:xfrm>
            <a:off x="3365640" y="4437360"/>
            <a:ext cx="2748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2D grid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5"/>
          <p:cNvSpPr/>
          <p:nvPr/>
        </p:nvSpPr>
        <p:spPr>
          <a:xfrm>
            <a:off x="6327360" y="4437360"/>
            <a:ext cx="26078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GCN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0"/>
          <p:cNvSpPr/>
          <p:nvPr/>
        </p:nvSpPr>
        <p:spPr>
          <a:xfrm>
            <a:off x="685800" y="4671720"/>
            <a:ext cx="8319960" cy="30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16"/>
          <p:cNvSpPr/>
          <p:nvPr/>
        </p:nvSpPr>
        <p:spPr>
          <a:xfrm>
            <a:off x="826920" y="4738680"/>
            <a:ext cx="2325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search-grid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7"/>
          <p:cNvSpPr/>
          <p:nvPr/>
        </p:nvSpPr>
        <p:spPr>
          <a:xfrm>
            <a:off x="3365640" y="4738680"/>
            <a:ext cx="2748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2D grid (+ marks)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8"/>
          <p:cNvSpPr/>
          <p:nvPr/>
        </p:nvSpPr>
        <p:spPr>
          <a:xfrm>
            <a:off x="6327360" y="4738680"/>
            <a:ext cx="26078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PNA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2"/>
          <p:cNvSpPr/>
          <p:nvPr/>
        </p:nvSpPr>
        <p:spPr>
          <a:xfrm>
            <a:off x="685800" y="4973040"/>
            <a:ext cx="8319960" cy="29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9"/>
          <p:cNvSpPr/>
          <p:nvPr/>
        </p:nvSpPr>
        <p:spPr>
          <a:xfrm>
            <a:off x="826920" y="5039640"/>
            <a:ext cx="2325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transfer-line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0"/>
          <p:cNvSpPr/>
          <p:nvPr/>
        </p:nvSpPr>
        <p:spPr>
          <a:xfrm>
            <a:off x="3365640" y="5039640"/>
            <a:ext cx="2748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1"/>
          <p:cNvSpPr/>
          <p:nvPr/>
        </p:nvSpPr>
        <p:spPr>
          <a:xfrm>
            <a:off x="6327360" y="5039640"/>
            <a:ext cx="2607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GCN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4"/>
          <p:cNvSpPr/>
          <p:nvPr/>
        </p:nvSpPr>
        <p:spPr>
          <a:xfrm>
            <a:off x="685800" y="5274360"/>
            <a:ext cx="8319960" cy="299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22"/>
          <p:cNvSpPr/>
          <p:nvPr/>
        </p:nvSpPr>
        <p:spPr>
          <a:xfrm>
            <a:off x="826920" y="5341320"/>
            <a:ext cx="2325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transfer-regular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23"/>
          <p:cNvSpPr/>
          <p:nvPr/>
        </p:nvSpPr>
        <p:spPr>
          <a:xfrm>
            <a:off x="3365640" y="5341320"/>
            <a:ext cx="274860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k-regular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4"/>
          <p:cNvSpPr/>
          <p:nvPr/>
        </p:nvSpPr>
        <p:spPr>
          <a:xfrm>
            <a:off x="6327360" y="5341320"/>
            <a:ext cx="26078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GCN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6"/>
          <p:cNvSpPr/>
          <p:nvPr/>
        </p:nvSpPr>
        <p:spPr>
          <a:xfrm>
            <a:off x="685800" y="5575680"/>
            <a:ext cx="8319960" cy="29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5"/>
          <p:cNvSpPr/>
          <p:nvPr/>
        </p:nvSpPr>
        <p:spPr>
          <a:xfrm>
            <a:off x="826920" y="5642280"/>
            <a:ext cx="2325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robust-line-disorder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26"/>
          <p:cNvSpPr/>
          <p:nvPr/>
        </p:nvSpPr>
        <p:spPr>
          <a:xfrm>
            <a:off x="3365640" y="5642280"/>
            <a:ext cx="274860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line + disorder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7"/>
          <p:cNvSpPr/>
          <p:nvPr/>
        </p:nvSpPr>
        <p:spPr>
          <a:xfrm>
            <a:off x="6327360" y="5642280"/>
            <a:ext cx="2607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GCN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8"/>
          <p:cNvSpPr/>
          <p:nvPr/>
        </p:nvSpPr>
        <p:spPr>
          <a:xfrm>
            <a:off x="0" y="6264000"/>
            <a:ext cx="7314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Note: this is a design choice motivated by GNN theory (expressivity, degree-awareness, stability).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9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24"/>
          <p:cNvSpPr/>
          <p:nvPr/>
        </p:nvSpPr>
        <p:spPr>
          <a:xfrm>
            <a:off x="1440" y="699480"/>
            <a:ext cx="77914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High-level: </a:t>
            </a: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GNN encoder → temporal controller → coin head (θ_{v,t})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30"/>
          <p:cNvSpPr/>
          <p:nvPr/>
        </p:nvSpPr>
        <p:spPr>
          <a:xfrm>
            <a:off x="0" y="2370240"/>
            <a:ext cx="372672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Why multiple GNN backbones?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1"/>
          <p:cNvSpPr/>
          <p:nvPr/>
        </p:nvSpPr>
        <p:spPr>
          <a:xfrm>
            <a:off x="228600" y="2514600"/>
            <a:ext cx="594252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Different inductive biases: local smoothing (GCN) vs attention (GAT) vs expressive aggregation (GIN).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Degree heterogeneity: architectures like PNA can adapt to varying degree distributions.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Ablation/robustness: if results hold across backbones, claims are stronger.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All variants preserve permutation equivariance (key for graph generalization).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2"/>
          <p:cNvSpPr/>
          <p:nvPr/>
        </p:nvSpPr>
        <p:spPr>
          <a:xfrm>
            <a:off x="6858360" y="1280160"/>
            <a:ext cx="4799160" cy="1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Inputs to the policy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33"/>
          <p:cNvSpPr/>
          <p:nvPr/>
        </p:nvSpPr>
        <p:spPr>
          <a:xfrm>
            <a:off x="6858360" y="1488240"/>
            <a:ext cx="4799160" cy="19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Graph: edge_index / adjacency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Node attributes: degree, coordinates, Laplacian PE / RWSE, role encodings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Task-conditioning: mark/target indicator appended per episode for search/transfer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Time fraction τ = t / T (and/or learned temporal embeddings)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365760" y="182880"/>
            <a:ext cx="7299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ACPL End-to-End Pipeline (Schematic)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548640" y="4617720"/>
            <a:ext cx="11154240" cy="15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What happens in one episode: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Episode inputs: graph G=(V,E), node features X, horizon T, initial state ψ₀, task spec, (optional) noise/disorder.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Policy: GNN encoder → node embeddings; temporal controller (GRU) conditions on τ=t/T → outputs coin parameters θ_{v,t}.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Physics constraint: θ_{v,t} is mapped to a valid unitary coin C_v(t) via a lift (SU(2) for degree 2, exp/Cayley for degree&gt;2).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Simulator rollout: apply coin then shift each step to evolve ψ_t; compute position probabilities P_t and final P_T.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Learning: compute task metric/loss from P_T (transfer/search/mixing/robust) → backprop through time to update policy weights.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76320" y="1774440"/>
            <a:ext cx="12115080" cy="165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Training &amp; evaluation protocol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Reproducible + CIs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731520" y="1005840"/>
            <a:ext cx="10788480" cy="335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1005840" y="1143000"/>
            <a:ext cx="5027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Training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1005840" y="1508760"/>
            <a:ext cx="502776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Roll out the DTQW for T steps with a differentiable step operator.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Backpropagate through time (BPTT) to update policy parameters.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Objective depends on task (mixing/search/transfer/robust).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End-to-end backprop through T DTQW steps (BPTT).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Optimizer: AdamW (lr≈2.5e−4), gradient clipping, temporal smoothness regularizer.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Determinism: fixed master seeds, deterministic Torch flags, logged configs.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6400800" y="1143000"/>
            <a:ext cx="4753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Evaluation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6400800" y="1508760"/>
            <a:ext cx="493632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10 evaluation seeds × 256 episodes/seed (n = 2560 episodes).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Report mean + 95% CI (pooled episodes + seed-mean CIs when available).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Include ablations on the same evaluation protocol.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Multiple evaluation seeds (CI seeds) per trained policy.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Bootstrap CIs over pooled episodes; seed-level CIs when multiple train seeds exist.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Standard outputs: REPORT.md + summary.json/csv + figures + manifests.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 flipH="1">
            <a:off x="6077160" y="1188720"/>
            <a:ext cx="3600" cy="31737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473080" y="4876560"/>
            <a:ext cx="100260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Why CIs?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3853440" y="5334480"/>
            <a:ext cx="45939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34155"/>
                </a:solidFill>
                <a:effectLst/>
                <a:uFillTx/>
                <a:latin typeface="Calibri"/>
              </a:rPr>
              <a:t>Avoids “single seed” cherry-picking; quantifies uncertainty.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Experiments, ablations, robustness sweeps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What we ran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"/>
          <p:cNvSpPr/>
          <p:nvPr/>
        </p:nvSpPr>
        <p:spPr>
          <a:xfrm>
            <a:off x="483840" y="796320"/>
            <a:ext cx="210168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556920" y="842040"/>
            <a:ext cx="19555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Suite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2586960" y="796320"/>
            <a:ext cx="301608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2660040" y="842040"/>
            <a:ext cx="28699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Graph family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5604480" y="796320"/>
            <a:ext cx="566784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5677560" y="842040"/>
            <a:ext cx="55216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Objective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9"/>
          <p:cNvSpPr/>
          <p:nvPr/>
        </p:nvSpPr>
        <p:spPr>
          <a:xfrm>
            <a:off x="483840" y="1189440"/>
            <a:ext cx="21016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556920" y="1235160"/>
            <a:ext cx="19555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mixing-grid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2586960" y="1189440"/>
            <a:ext cx="30160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2660040" y="1235160"/>
            <a:ext cx="28699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2D grids (various sizes)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3"/>
          <p:cNvSpPr/>
          <p:nvPr/>
        </p:nvSpPr>
        <p:spPr>
          <a:xfrm>
            <a:off x="5604480" y="1189440"/>
            <a:ext cx="566784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5677560" y="1235160"/>
            <a:ext cx="55216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Minimize TV(P_t, Uniform)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483840" y="1582560"/>
            <a:ext cx="21016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556920" y="1628280"/>
            <a:ext cx="19555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search-grid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7"/>
          <p:cNvSpPr/>
          <p:nvPr/>
        </p:nvSpPr>
        <p:spPr>
          <a:xfrm>
            <a:off x="2586960" y="1582560"/>
            <a:ext cx="30160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2660040" y="1628280"/>
            <a:ext cx="28699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2D grids (various sizes)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5604480" y="1582560"/>
            <a:ext cx="566784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5677560" y="1628280"/>
            <a:ext cx="55216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Maximize mass on marked set Ω at step 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>
            <a:off x="483840" y="1976040"/>
            <a:ext cx="21016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556920" y="2021760"/>
            <a:ext cx="19555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transfer-line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3"/>
          <p:cNvSpPr/>
          <p:nvPr/>
        </p:nvSpPr>
        <p:spPr>
          <a:xfrm>
            <a:off x="2586960" y="1976040"/>
            <a:ext cx="30160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4"/>
          <p:cNvSpPr/>
          <p:nvPr/>
        </p:nvSpPr>
        <p:spPr>
          <a:xfrm>
            <a:off x="2660040" y="2021760"/>
            <a:ext cx="28699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Lines (various lengths)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5604480" y="1976040"/>
            <a:ext cx="566784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5677560" y="2021760"/>
            <a:ext cx="55216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Transport from start → target set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7"/>
          <p:cNvSpPr/>
          <p:nvPr/>
        </p:nvSpPr>
        <p:spPr>
          <a:xfrm>
            <a:off x="483840" y="2369160"/>
            <a:ext cx="21016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8"/>
          <p:cNvSpPr/>
          <p:nvPr/>
        </p:nvSpPr>
        <p:spPr>
          <a:xfrm>
            <a:off x="556920" y="2414880"/>
            <a:ext cx="19555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transfer-regular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9"/>
          <p:cNvSpPr/>
          <p:nvPr/>
        </p:nvSpPr>
        <p:spPr>
          <a:xfrm>
            <a:off x="2586960" y="2369160"/>
            <a:ext cx="30160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0"/>
          <p:cNvSpPr/>
          <p:nvPr/>
        </p:nvSpPr>
        <p:spPr>
          <a:xfrm>
            <a:off x="2660040" y="2414880"/>
            <a:ext cx="28699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Regular graphs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1"/>
          <p:cNvSpPr/>
          <p:nvPr/>
        </p:nvSpPr>
        <p:spPr>
          <a:xfrm>
            <a:off x="5604480" y="2369160"/>
            <a:ext cx="566784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2"/>
          <p:cNvSpPr/>
          <p:nvPr/>
        </p:nvSpPr>
        <p:spPr>
          <a:xfrm>
            <a:off x="5677560" y="2414880"/>
            <a:ext cx="55216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Transport from start → target set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3"/>
          <p:cNvSpPr/>
          <p:nvPr/>
        </p:nvSpPr>
        <p:spPr>
          <a:xfrm>
            <a:off x="483840" y="2762280"/>
            <a:ext cx="21016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4"/>
          <p:cNvSpPr/>
          <p:nvPr/>
        </p:nvSpPr>
        <p:spPr>
          <a:xfrm>
            <a:off x="556920" y="2808000"/>
            <a:ext cx="19555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robust-line-disorder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5"/>
          <p:cNvSpPr/>
          <p:nvPr/>
        </p:nvSpPr>
        <p:spPr>
          <a:xfrm>
            <a:off x="2586960" y="2762280"/>
            <a:ext cx="30160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2660040" y="2808000"/>
            <a:ext cx="28699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Lines + disorder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7"/>
          <p:cNvSpPr/>
          <p:nvPr/>
        </p:nvSpPr>
        <p:spPr>
          <a:xfrm>
            <a:off x="5604480" y="2762280"/>
            <a:ext cx="566784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8"/>
          <p:cNvSpPr/>
          <p:nvPr/>
        </p:nvSpPr>
        <p:spPr>
          <a:xfrm>
            <a:off x="5677560" y="2808000"/>
            <a:ext cx="552168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 transport (mean/CVaR diagnostics)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9"/>
          <p:cNvSpPr/>
          <p:nvPr/>
        </p:nvSpPr>
        <p:spPr>
          <a:xfrm>
            <a:off x="93240" y="4949280"/>
            <a:ext cx="2667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Deliverables from the suite: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0"/>
          <p:cNvSpPr/>
          <p:nvPr/>
        </p:nvSpPr>
        <p:spPr>
          <a:xfrm>
            <a:off x="160200" y="5231160"/>
            <a:ext cx="4220280" cy="135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Task-specific policies (coins) that adapt to graph structure and time.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 evidence for what matters (time dependence, node dependence, PE).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Reproducible manifests + multi-seed CI evaluation.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1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61200" y="3269160"/>
            <a:ext cx="1747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Experiment suites: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34"/>
          <p:cNvSpPr/>
          <p:nvPr/>
        </p:nvSpPr>
        <p:spPr>
          <a:xfrm>
            <a:off x="97560" y="3587400"/>
            <a:ext cx="5721120" cy="12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mixing-grid: minimize TV(P_T, Uniform) on 2D grids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2680" indent="-20268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search-grid: maximize probability on marked set Ω (size-based OOD split)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transfer-line: maximize P(target) on lines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transfer-regular: maximize P(target) on k-regular graphs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robust-line-disorder: transfer under disorder with σ sweeps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35"/>
          <p:cNvSpPr/>
          <p:nvPr/>
        </p:nvSpPr>
        <p:spPr>
          <a:xfrm>
            <a:off x="6240240" y="3344760"/>
            <a:ext cx="25801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Ablations (hypothesis tests):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6"/>
          <p:cNvSpPr/>
          <p:nvPr/>
        </p:nvSpPr>
        <p:spPr>
          <a:xfrm>
            <a:off x="6383160" y="3569040"/>
            <a:ext cx="4730760" cy="9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NoPE: remove positional encodings (geometry dependence)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GlobalCoin: remove spatial adaptivity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TimeFrozen: remove temporal adaptivity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NodePermute: permutation consistency stress test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7"/>
          <p:cNvSpPr/>
          <p:nvPr/>
        </p:nvSpPr>
        <p:spPr>
          <a:xfrm>
            <a:off x="6267600" y="5166720"/>
            <a:ext cx="5484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Robustness sweeps: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8"/>
          <p:cNvSpPr/>
          <p:nvPr/>
        </p:nvSpPr>
        <p:spPr>
          <a:xfrm>
            <a:off x="6446520" y="5456160"/>
            <a:ext cx="539352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02680" indent="-20268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Disorder kinds: edge_phase, coin_dephase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2680" indent="-20268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Sweep σ ∈ {0, 0.02, 0.05, 0.1}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2680" indent="-20268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Report mean + uncertainty; highlight risk via CVaR metrics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Results overview (baseline vs learned policy)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Headline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731520" y="1234440"/>
            <a:ext cx="237600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804600" y="1280160"/>
            <a:ext cx="2229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Task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3108960" y="1234440"/>
            <a:ext cx="310752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3182040" y="1280160"/>
            <a:ext cx="29613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6217920" y="1234440"/>
            <a:ext cx="164448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6291000" y="1280160"/>
            <a:ext cx="14983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Baseline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7863840" y="1234440"/>
            <a:ext cx="191880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7936920" y="1280160"/>
            <a:ext cx="17726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Best (seed0/1/2)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9784080" y="1234440"/>
            <a:ext cx="1735920" cy="39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9857160" y="1280160"/>
            <a:ext cx="15897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Δ (relative)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731520" y="1627560"/>
            <a:ext cx="23760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804600" y="1673280"/>
            <a:ext cx="2229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mixing-grid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3108960" y="1627560"/>
            <a:ext cx="31075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3182040" y="1673280"/>
            <a:ext cx="29613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mix.tv ↓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6217920" y="1627560"/>
            <a:ext cx="16444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6291000" y="1673280"/>
            <a:ext cx="14983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0.9844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7863840" y="1627560"/>
            <a:ext cx="19188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7936920" y="1673280"/>
            <a:ext cx="17726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0.5327 (seed 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9784080" y="1627560"/>
            <a:ext cx="17359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9857160" y="1673280"/>
            <a:ext cx="15897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+45.9%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731520" y="2020680"/>
            <a:ext cx="23760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804600" y="2066400"/>
            <a:ext cx="2229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search-grid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3108960" y="2020680"/>
            <a:ext cx="31075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3182040" y="2066400"/>
            <a:ext cx="29613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target.success ↑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6217920" y="2020680"/>
            <a:ext cx="16444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8"/>
          <p:cNvSpPr/>
          <p:nvPr/>
        </p:nvSpPr>
        <p:spPr>
          <a:xfrm>
            <a:off x="6291000" y="2066400"/>
            <a:ext cx="14983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0.0157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7863840" y="2020680"/>
            <a:ext cx="19188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7936920" y="2066400"/>
            <a:ext cx="17726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0.0142 (seed 2)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1"/>
          <p:cNvSpPr/>
          <p:nvPr/>
        </p:nvSpPr>
        <p:spPr>
          <a:xfrm>
            <a:off x="9784080" y="2020680"/>
            <a:ext cx="17359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2"/>
          <p:cNvSpPr/>
          <p:nvPr/>
        </p:nvSpPr>
        <p:spPr>
          <a:xfrm>
            <a:off x="9857160" y="2066400"/>
            <a:ext cx="15897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-10.0%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3"/>
          <p:cNvSpPr/>
          <p:nvPr/>
        </p:nvSpPr>
        <p:spPr>
          <a:xfrm>
            <a:off x="731520" y="2414160"/>
            <a:ext cx="23760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4"/>
          <p:cNvSpPr/>
          <p:nvPr/>
        </p:nvSpPr>
        <p:spPr>
          <a:xfrm>
            <a:off x="804600" y="2459880"/>
            <a:ext cx="2229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transfer-line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5"/>
          <p:cNvSpPr/>
          <p:nvPr/>
        </p:nvSpPr>
        <p:spPr>
          <a:xfrm>
            <a:off x="3108960" y="2414160"/>
            <a:ext cx="31075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6"/>
          <p:cNvSpPr/>
          <p:nvPr/>
        </p:nvSpPr>
        <p:spPr>
          <a:xfrm>
            <a:off x="3182040" y="2459880"/>
            <a:ext cx="29613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target.success ↑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7"/>
          <p:cNvSpPr/>
          <p:nvPr/>
        </p:nvSpPr>
        <p:spPr>
          <a:xfrm>
            <a:off x="6217920" y="2414160"/>
            <a:ext cx="16444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8"/>
          <p:cNvSpPr/>
          <p:nvPr/>
        </p:nvSpPr>
        <p:spPr>
          <a:xfrm>
            <a:off x="6291000" y="2459880"/>
            <a:ext cx="14983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3.18e-13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9"/>
          <p:cNvSpPr/>
          <p:nvPr/>
        </p:nvSpPr>
        <p:spPr>
          <a:xfrm>
            <a:off x="7863840" y="2414160"/>
            <a:ext cx="19188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0"/>
          <p:cNvSpPr/>
          <p:nvPr/>
        </p:nvSpPr>
        <p:spPr>
          <a:xfrm>
            <a:off x="7936920" y="2459880"/>
            <a:ext cx="17726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6.50e-27 (seed 1)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1"/>
          <p:cNvSpPr/>
          <p:nvPr/>
        </p:nvSpPr>
        <p:spPr>
          <a:xfrm>
            <a:off x="9784080" y="2414160"/>
            <a:ext cx="17359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2"/>
          <p:cNvSpPr/>
          <p:nvPr/>
        </p:nvSpPr>
        <p:spPr>
          <a:xfrm>
            <a:off x="9857160" y="2459880"/>
            <a:ext cx="15897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-100.0%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3"/>
          <p:cNvSpPr/>
          <p:nvPr/>
        </p:nvSpPr>
        <p:spPr>
          <a:xfrm>
            <a:off x="731520" y="2807280"/>
            <a:ext cx="23760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4"/>
          <p:cNvSpPr/>
          <p:nvPr/>
        </p:nvSpPr>
        <p:spPr>
          <a:xfrm>
            <a:off x="804600" y="2853000"/>
            <a:ext cx="2229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transfer-regular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5"/>
          <p:cNvSpPr/>
          <p:nvPr/>
        </p:nvSpPr>
        <p:spPr>
          <a:xfrm>
            <a:off x="3108960" y="2807280"/>
            <a:ext cx="31075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6"/>
          <p:cNvSpPr/>
          <p:nvPr/>
        </p:nvSpPr>
        <p:spPr>
          <a:xfrm>
            <a:off x="3182040" y="2853000"/>
            <a:ext cx="29613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target.success ↑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7"/>
          <p:cNvSpPr/>
          <p:nvPr/>
        </p:nvSpPr>
        <p:spPr>
          <a:xfrm>
            <a:off x="6217920" y="2807280"/>
            <a:ext cx="16444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8"/>
          <p:cNvSpPr/>
          <p:nvPr/>
        </p:nvSpPr>
        <p:spPr>
          <a:xfrm>
            <a:off x="6291000" y="2853000"/>
            <a:ext cx="14983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0.0000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9"/>
          <p:cNvSpPr/>
          <p:nvPr/>
        </p:nvSpPr>
        <p:spPr>
          <a:xfrm>
            <a:off x="7863840" y="2807280"/>
            <a:ext cx="19188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0"/>
          <p:cNvSpPr/>
          <p:nvPr/>
        </p:nvSpPr>
        <p:spPr>
          <a:xfrm>
            <a:off x="7936920" y="2853000"/>
            <a:ext cx="17726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0.0208 (seed 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1"/>
          <p:cNvSpPr/>
          <p:nvPr/>
        </p:nvSpPr>
        <p:spPr>
          <a:xfrm>
            <a:off x="9784080" y="2807280"/>
            <a:ext cx="17359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52"/>
          <p:cNvSpPr/>
          <p:nvPr/>
        </p:nvSpPr>
        <p:spPr>
          <a:xfrm>
            <a:off x="9857160" y="2853000"/>
            <a:ext cx="15897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—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53"/>
          <p:cNvSpPr/>
          <p:nvPr/>
        </p:nvSpPr>
        <p:spPr>
          <a:xfrm>
            <a:off x="731520" y="3200400"/>
            <a:ext cx="23760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4"/>
          <p:cNvSpPr/>
          <p:nvPr/>
        </p:nvSpPr>
        <p:spPr>
          <a:xfrm>
            <a:off x="804600" y="3246120"/>
            <a:ext cx="22298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robust-line-disorder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5"/>
          <p:cNvSpPr/>
          <p:nvPr/>
        </p:nvSpPr>
        <p:spPr>
          <a:xfrm>
            <a:off x="3108960" y="3200400"/>
            <a:ext cx="31075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6"/>
          <p:cNvSpPr/>
          <p:nvPr/>
        </p:nvSpPr>
        <p:spPr>
          <a:xfrm>
            <a:off x="3182040" y="3246120"/>
            <a:ext cx="29613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target.success ↑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57"/>
          <p:cNvSpPr/>
          <p:nvPr/>
        </p:nvSpPr>
        <p:spPr>
          <a:xfrm>
            <a:off x="6217920" y="3200400"/>
            <a:ext cx="164448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58"/>
          <p:cNvSpPr/>
          <p:nvPr/>
        </p:nvSpPr>
        <p:spPr>
          <a:xfrm>
            <a:off x="6291000" y="3246120"/>
            <a:ext cx="149832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0.0161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9"/>
          <p:cNvSpPr/>
          <p:nvPr/>
        </p:nvSpPr>
        <p:spPr>
          <a:xfrm>
            <a:off x="7863840" y="3200400"/>
            <a:ext cx="191880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0"/>
          <p:cNvSpPr/>
          <p:nvPr/>
        </p:nvSpPr>
        <p:spPr>
          <a:xfrm>
            <a:off x="7936920" y="3246120"/>
            <a:ext cx="177264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0.0170 (seed 0)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61"/>
          <p:cNvSpPr/>
          <p:nvPr/>
        </p:nvSpPr>
        <p:spPr>
          <a:xfrm>
            <a:off x="9784080" y="3200400"/>
            <a:ext cx="1735920" cy="39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2"/>
          <p:cNvSpPr/>
          <p:nvPr/>
        </p:nvSpPr>
        <p:spPr>
          <a:xfrm>
            <a:off x="9857160" y="3246120"/>
            <a:ext cx="1589760" cy="3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+5.3%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3"/>
          <p:cNvSpPr/>
          <p:nvPr/>
        </p:nvSpPr>
        <p:spPr>
          <a:xfrm>
            <a:off x="731520" y="41605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Reading the table: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4"/>
          <p:cNvSpPr/>
          <p:nvPr/>
        </p:nvSpPr>
        <p:spPr>
          <a:xfrm>
            <a:off x="731520" y="4480560"/>
            <a:ext cx="1097136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Mixing: smaller TV-to-uniform is better (closer to uniform).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Search/transfer/robust: larger target.success is better (more probability on targets).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Some tasks remain challenging (e.g., transfer-line) — shown transparently.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65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58"/>
          <p:cNvSpPr/>
          <p:nvPr/>
        </p:nvSpPr>
        <p:spPr>
          <a:xfrm>
            <a:off x="457560" y="5790960"/>
            <a:ext cx="89146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Takeaway: ACPL provides large gains on mixing and search-style concentration, and improves transfer on regular graphs; robustness improves mainly via time-adaptive coins (see sweeps).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Result: mixing-grid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TV-to-uniform over time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"/>
          <p:cNvSpPr/>
          <p:nvPr/>
        </p:nvSpPr>
        <p:spPr>
          <a:xfrm>
            <a:off x="731520" y="960120"/>
            <a:ext cx="111542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34155"/>
                </a:solidFill>
                <a:effectLst/>
                <a:uFillTx/>
                <a:latin typeface="Calibri"/>
              </a:rPr>
              <a:t>Lower is better </a:t>
            </a:r>
            <a:r>
              <a:rPr b="0" lang="en-US" sz="1400" strike="noStrike" u="none">
                <a:solidFill>
                  <a:srgbClr val="334155"/>
                </a:solidFill>
                <a:effectLst/>
                <a:uFillTx/>
                <a:latin typeface="Calibri"/>
              </a:rPr>
              <a:t>(closer to uniform). Learned policy reduces TV vs Hadamard baseline.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0" descr="/mnt/data/evalruns/eval/mixing-grid/baseline/hadamard/figs/tv_to_uniform__baseline_hadamard.png"/>
          <p:cNvPicPr/>
          <p:nvPr/>
        </p:nvPicPr>
        <p:blipFill>
          <a:blip r:embed="rId1"/>
          <a:stretch/>
        </p:blipFill>
        <p:spPr>
          <a:xfrm>
            <a:off x="40680" y="1417320"/>
            <a:ext cx="3615840" cy="21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4"/>
          <p:cNvSpPr/>
          <p:nvPr/>
        </p:nvSpPr>
        <p:spPr>
          <a:xfrm>
            <a:off x="274680" y="3840840"/>
            <a:ext cx="1553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Baseline (Hadamard)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1" descr="/mnt/data/evalruns/eval/mixing-grid/seed1/main/figs/tv_to_uniform__ckpt_policy.png"/>
          <p:cNvPicPr/>
          <p:nvPr/>
        </p:nvPicPr>
        <p:blipFill>
          <a:blip r:embed="rId2"/>
          <a:stretch/>
        </p:blipFill>
        <p:spPr>
          <a:xfrm>
            <a:off x="3778200" y="1325520"/>
            <a:ext cx="3764520" cy="22392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95" name="Chart 0"/>
          <p:cNvGraphicFramePr/>
          <p:nvPr/>
        </p:nvGraphicFramePr>
        <p:xfrm>
          <a:off x="274680" y="4114800"/>
          <a:ext cx="5210640" cy="155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6" name="Text 6"/>
          <p:cNvSpPr/>
          <p:nvPr/>
        </p:nvSpPr>
        <p:spPr>
          <a:xfrm>
            <a:off x="320400" y="5715360"/>
            <a:ext cx="53935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Baseline: 0.984  →  Best: 0.533  (−45.9%)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7"/>
          <p:cNvSpPr/>
          <p:nvPr/>
        </p:nvSpPr>
        <p:spPr>
          <a:xfrm>
            <a:off x="228600" y="6172200"/>
            <a:ext cx="539352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Interpretation: the learned coin schedule mixes faster / more uniformly for these grids.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5" descr="/mnt/data/ablation_mixing_tv.png"/>
          <p:cNvPicPr/>
          <p:nvPr/>
        </p:nvPicPr>
        <p:blipFill>
          <a:blip r:embed="rId4"/>
          <a:stretch/>
        </p:blipFill>
        <p:spPr>
          <a:xfrm>
            <a:off x="7543440" y="1143000"/>
            <a:ext cx="4342320" cy="24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 47"/>
          <p:cNvSpPr/>
          <p:nvPr/>
        </p:nvSpPr>
        <p:spPr>
          <a:xfrm>
            <a:off x="5852520" y="4252320"/>
            <a:ext cx="28332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Interpreting the ablations: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9"/>
          <p:cNvSpPr/>
          <p:nvPr/>
        </p:nvSpPr>
        <p:spPr>
          <a:xfrm>
            <a:off x="5943600" y="4572000"/>
            <a:ext cx="57139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77840" indent="-1778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TimeFrozen causes the largest regression → time-dependent control is crucial.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GlobalCoin / NoPE are closer to the full model on this setting.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NodePermute changes behavior slightly; metrics are permutation-invariant by design.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42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5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Results: search-grid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46"/>
          <p:cNvSpPr/>
          <p:nvPr/>
        </p:nvSpPr>
        <p:spPr>
          <a:xfrm>
            <a:off x="228600" y="68580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Marked-node search: concentrate probability on Ω (example visual diagnostics)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47"/>
          <p:cNvSpPr/>
          <p:nvPr/>
        </p:nvSpPr>
        <p:spPr>
          <a:xfrm>
            <a:off x="228600" y="1005480"/>
            <a:ext cx="2513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Confusion matrix (baseline)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48"/>
          <p:cNvSpPr/>
          <p:nvPr/>
        </p:nvSpPr>
        <p:spPr>
          <a:xfrm>
            <a:off x="228960" y="374472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Confusion matrix (ACPL)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9" descr="/mnt/data/extract/eval/search-grid/baseline/hadamard/figs/confusion_matrix__baseline_hadamard.png"/>
          <p:cNvPicPr/>
          <p:nvPr/>
        </p:nvPicPr>
        <p:blipFill>
          <a:blip r:embed="rId1"/>
          <a:stretch/>
        </p:blipFill>
        <p:spPr>
          <a:xfrm>
            <a:off x="228960" y="1279440"/>
            <a:ext cx="4342320" cy="25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149"/>
          <p:cNvSpPr/>
          <p:nvPr/>
        </p:nvSpPr>
        <p:spPr>
          <a:xfrm>
            <a:off x="6492600" y="1326240"/>
            <a:ext cx="3564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Position timeline (ACPL)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 10" descr="/mnt/data/extract/eval/search-grid/seed1/main/figs/position_timelines__ckpt_policy.png"/>
          <p:cNvPicPr/>
          <p:nvPr/>
        </p:nvPicPr>
        <p:blipFill>
          <a:blip r:embed="rId2"/>
          <a:stretch/>
        </p:blipFill>
        <p:spPr>
          <a:xfrm>
            <a:off x="5486400" y="1817280"/>
            <a:ext cx="5028120" cy="38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 150"/>
          <p:cNvSpPr/>
          <p:nvPr/>
        </p:nvSpPr>
        <p:spPr>
          <a:xfrm>
            <a:off x="5257800" y="5943600"/>
            <a:ext cx="61711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Quantitatively: target.maxp improves from ≈0.018 (baseline) to ≈0.136 (ACPL).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51"/>
          <p:cNvSpPr/>
          <p:nvPr/>
        </p:nvSpPr>
        <p:spPr>
          <a:xfrm>
            <a:off x="548640" y="6537960"/>
            <a:ext cx="11566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11" descr="/mnt/data/evalruns/eval/search-grid/seed2/main/figs/confusion_matrix__ckpt_policy.png"/>
          <p:cNvPicPr/>
          <p:nvPr/>
        </p:nvPicPr>
        <p:blipFill>
          <a:blip r:embed="rId3"/>
          <a:stretch/>
        </p:blipFill>
        <p:spPr>
          <a:xfrm>
            <a:off x="228600" y="4036320"/>
            <a:ext cx="4341960" cy="259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Result: transfer-regular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PT(target) curve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"/>
          <p:cNvSpPr/>
          <p:nvPr/>
        </p:nvSpPr>
        <p:spPr>
          <a:xfrm>
            <a:off x="731520" y="960120"/>
            <a:ext cx="111542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Goal: maximize P(target) at final time (visual diagnostics)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0" descr="/mnt/data/evalruns/eval/transfer-regular/baseline/hadamard/figs/position_timelines__baseline_hadamard.png"/>
          <p:cNvPicPr/>
          <p:nvPr/>
        </p:nvPicPr>
        <p:blipFill>
          <a:blip r:embed="rId1"/>
          <a:stretch/>
        </p:blipFill>
        <p:spPr>
          <a:xfrm>
            <a:off x="1099080" y="1417320"/>
            <a:ext cx="4658400" cy="361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4"/>
          <p:cNvSpPr/>
          <p:nvPr/>
        </p:nvSpPr>
        <p:spPr>
          <a:xfrm>
            <a:off x="731520" y="5074920"/>
            <a:ext cx="5393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Baseline (Hadamard)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1" descr="/mnt/data/evalruns/eval/transfer-regular/seed2/main/figs/position_timelines__ckpt_policy.png"/>
          <p:cNvPicPr/>
          <p:nvPr/>
        </p:nvPicPr>
        <p:blipFill>
          <a:blip r:embed="rId2"/>
          <a:stretch/>
        </p:blipFill>
        <p:spPr>
          <a:xfrm>
            <a:off x="6676920" y="1417320"/>
            <a:ext cx="4658400" cy="361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Text 5"/>
          <p:cNvSpPr/>
          <p:nvPr/>
        </p:nvSpPr>
        <p:spPr>
          <a:xfrm>
            <a:off x="6309360" y="5074920"/>
            <a:ext cx="5393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11827"/>
                </a:solidFill>
                <a:effectLst/>
                <a:uFillTx/>
                <a:latin typeface="Calibri"/>
              </a:rPr>
              <a:t>Learned policy (seed2)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731520" y="5446440"/>
            <a:ext cx="11152440" cy="11016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/>
          <a:fillRef idx="0"/>
          <a:effectRef idx="0"/>
          <a:fontRef idx="minor"/>
        </p:style>
        <p:txBody>
          <a:bodyPr lIns="127080" rIns="127080" tIns="127080" bIns="1270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Observed: target.success improves from 0.000 (baseline) to ≈0.012 mean across seeds.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Takeaway: learned coin policies can measurably increase transport probability to designated targets (here: transfer-regular), compared with a fixed Hadamard coin.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4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9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Results: robustness sweep (line disorder)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0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Edge-phase disorder sweep σ (example):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1"/>
          <p:cNvSpPr/>
          <p:nvPr/>
        </p:nvSpPr>
        <p:spPr>
          <a:xfrm>
            <a:off x="822960" y="123444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ACPL policy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42"/>
          <p:cNvSpPr/>
          <p:nvPr/>
        </p:nvSpPr>
        <p:spPr>
          <a:xfrm>
            <a:off x="6400800" y="123444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TimeFrozen ablation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8"/>
          <p:cNvSpPr/>
          <p:nvPr/>
        </p:nvSpPr>
        <p:spPr>
          <a:xfrm>
            <a:off x="731520" y="1554480"/>
            <a:ext cx="5576400" cy="438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9" name="Image 7" descr="/mnt/data/extract/eval/robust-line-disorder/seed0/robust_sweep/robust_sweeps/ckpt_policy/edge_phase/sweep__ckpt_policy__edge_phase.png"/>
          <p:cNvPicPr/>
          <p:nvPr/>
        </p:nvPicPr>
        <p:blipFill>
          <a:blip r:embed="rId1"/>
          <a:stretch/>
        </p:blipFill>
        <p:spPr>
          <a:xfrm>
            <a:off x="868680" y="2171520"/>
            <a:ext cx="5302080" cy="315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Shape 40"/>
          <p:cNvSpPr/>
          <p:nvPr/>
        </p:nvSpPr>
        <p:spPr>
          <a:xfrm>
            <a:off x="6263640" y="1554480"/>
            <a:ext cx="5576400" cy="438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Image 8" descr="/mnt/data/extract/eval/robust-line-disorder/seed0/robust_sweep/robust_sweeps/ckpt_policy_abl_TimeFrozen/edge_phase/sweep__ckpt_policy_abl_TimeFrozen__edge_phase.png"/>
          <p:cNvPicPr/>
          <p:nvPr/>
        </p:nvPicPr>
        <p:blipFill>
          <a:blip r:embed="rId2"/>
          <a:stretch/>
        </p:blipFill>
        <p:spPr>
          <a:xfrm>
            <a:off x="6400800" y="2171520"/>
            <a:ext cx="5302080" cy="315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 143"/>
          <p:cNvSpPr/>
          <p:nvPr/>
        </p:nvSpPr>
        <p:spPr>
          <a:xfrm>
            <a:off x="822960" y="608076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Takeaway: temporal adaptivity is a major contributor to robustness under disorder.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44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1"/>
          <p:cNvSpPr/>
          <p:nvPr/>
        </p:nvSpPr>
        <p:spPr>
          <a:xfrm>
            <a:off x="0" y="0"/>
            <a:ext cx="12190320" cy="56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1"/>
          <p:cNvSpPr/>
          <p:nvPr/>
        </p:nvSpPr>
        <p:spPr>
          <a:xfrm>
            <a:off x="548640" y="109800"/>
            <a:ext cx="111542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Limitations &amp; future work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3"/>
          <p:cNvSpPr/>
          <p:nvPr/>
        </p:nvSpPr>
        <p:spPr>
          <a:xfrm>
            <a:off x="822960" y="8686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Limitations: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5"/>
          <p:cNvSpPr/>
          <p:nvPr/>
        </p:nvSpPr>
        <p:spPr>
          <a:xfrm>
            <a:off x="1097280" y="1234440"/>
            <a:ext cx="10971360" cy="219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Compute budget limits horizon/size sweeps and the number of train seeds in some suites.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Some tasks (e.g., transfer-line) remain challenging and may require improved objectives or architectures.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Robustness: disorder sweeps show degradation; more realistic noise models are future work.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Need broader OOD regimes (topology shifts, mixed families) for stronger generalization claims.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7"/>
          <p:cNvSpPr/>
          <p:nvPr/>
        </p:nvSpPr>
        <p:spPr>
          <a:xfrm>
            <a:off x="822960" y="361188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Next steps: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43"/>
          <p:cNvSpPr/>
          <p:nvPr/>
        </p:nvSpPr>
        <p:spPr>
          <a:xfrm>
            <a:off x="1097280" y="3977640"/>
            <a:ext cx="10971360" cy="20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Expand baselines: explicit Grover coins for search, classical random walk baselines, learned global controls.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Architecture upgrades: attention-based controllers, hybrid GNN/Transformer policy, better PE schemes.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Theory: connect learned coins to spectral properties / mixing-time bounds.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Scale: larger graphs + longer horizons with profiling and kernel-level optimizations.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5"/>
          <p:cNvSpPr/>
          <p:nvPr/>
        </p:nvSpPr>
        <p:spPr>
          <a:xfrm>
            <a:off x="548640" y="6537960"/>
            <a:ext cx="11154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ACPL-qwalk • CS598 / Thesis research • Jan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12190320" cy="638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457200" y="1371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Closing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9235440" y="182880"/>
            <a:ext cx="25588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fd3ff"/>
                </a:solidFill>
                <a:effectLst/>
                <a:uFillTx/>
                <a:latin typeface="Calibri"/>
                <a:ea typeface="Calibri"/>
              </a:rPr>
              <a:t>Final message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686160" y="329256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Conclusions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686160" y="3657960"/>
            <a:ext cx="109713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ACPL learns node- and time-dependent coins using a permutation-equivariant GNN policy.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On mixing-grid and transfer-regular, learned policies improve task metrics vs a fixed Hadamard baseline (multi-seed evaluation).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Ablations support the ML story: removing time dependence or node dependence changes performance in systematic ways.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The pipeline is fully reproducible: YAML manifests define graph families, horizons, seeds, and split regimes.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686160" y="4892400"/>
            <a:ext cx="10971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Deliverables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731520" y="5486400"/>
            <a:ext cx="1097136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Code + manifests: end-to-end training/eval, deterministic episode generation, CI reporting.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Trained checkpoints for main seeds + baseline reports.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400"/>
              </a:spcAft>
              <a:buClr>
                <a:srgbClr val="11182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Result figures per suite: TV curves, PT(target) curves, position timelines, confusion matrices.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457200" y="6675120"/>
            <a:ext cx="1124568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Calibri"/>
                <a:ea typeface="Calibri"/>
              </a:rPr>
              <a:t>ACPL — DTQW policy learning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823320" y="14173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Main takeaways: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7"/>
          <p:cNvSpPr/>
          <p:nvPr/>
        </p:nvSpPr>
        <p:spPr>
          <a:xfrm>
            <a:off x="823320" y="14173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Main takeaways: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9"/>
          <p:cNvSpPr/>
          <p:nvPr/>
        </p:nvSpPr>
        <p:spPr>
          <a:xfrm>
            <a:off x="823320" y="14173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Main takeaways: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1"/>
          <p:cNvSpPr/>
          <p:nvPr/>
        </p:nvSpPr>
        <p:spPr>
          <a:xfrm>
            <a:off x="823680" y="1417320"/>
            <a:ext cx="10971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Main takeaways: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3"/>
          <p:cNvSpPr/>
          <p:nvPr/>
        </p:nvSpPr>
        <p:spPr>
          <a:xfrm>
            <a:off x="685800" y="1783440"/>
            <a:ext cx="104688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54160" indent="-25416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ACPL learns node×time adaptive coin operators that substantially improve mixing and search-style concentration.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Manifest-driven procedural datasets make results reproducible and audit-ready (IID/OOD splits).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4160" indent="-254160" defTabSz="914400">
              <a:lnSpc>
                <a:spcPct val="110000"/>
              </a:lnSpc>
              <a:buClr>
                <a:srgbClr val="111827"/>
              </a:buClr>
              <a:buFont typeface="Symbol" charset="2"/>
              <a:buChar char=""/>
            </a:pPr>
            <a:r>
              <a:rPr b="0" lang="en-US" sz="2000" strike="noStrike" u="non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Ablations identify temporal adaptivity as a key driver of performance and robustness.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Application>LibreOffice/25.8.3.2$Windows_X86_64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2026-01-17T21:30:12Z</dcterms:created>
  <dc:creator>ACPL Project</dc:creator>
  <dc:description/>
  <dc:language>en-US</dc:language>
  <cp:lastModifiedBy/>
  <dcterms:modified xsi:type="dcterms:W3CDTF">2026-01-23T20:56:46Z</dcterms:modified>
  <cp:revision>150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20</vt:i4>
  </property>
</Properties>
</file>